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2" r:id="rId8"/>
    <p:sldId id="263" r:id="rId9"/>
    <p:sldId id="264" r:id="rId10"/>
    <p:sldId id="265" r:id="rId11"/>
    <p:sldId id="260" r:id="rId12"/>
    <p:sldId id="266" r:id="rId13"/>
  </p:sldIdLst>
  <p:sldSz cx="18288000" cy="10287000"/>
  <p:notesSz cx="6858000" cy="9144000"/>
  <p:embeddedFontLst>
    <p:embeddedFont>
      <p:font typeface="Agency FB" panose="020B0503020202020204" pitchFamily="34" charset="0"/>
      <p:regular r:id="rId14"/>
      <p:bold r:id="rId15"/>
    </p:embeddedFont>
    <p:embeddedFont>
      <p:font typeface="IBM Plex Mono" panose="020B0509050203000203" pitchFamily="49" charset="0"/>
      <p:regular r:id="rId16"/>
    </p:embeddedFont>
    <p:embeddedFont>
      <p:font typeface="Leelawadee" panose="020B0502040204020203" pitchFamily="34" charset="-34"/>
      <p:regular r:id="rId17"/>
      <p:bold r:id="rId18"/>
    </p:embeddedFont>
    <p:embeddedFont>
      <p:font typeface="Noto Sans" panose="020B0502040504020204" pitchFamily="34" charset="0"/>
      <p:regular r:id="rId19"/>
    </p:embeddedFont>
    <p:embeddedFont>
      <p:font typeface="Noto Sans Bold" panose="020B0604020202020204" charset="0"/>
      <p:regular r:id="rId20"/>
    </p:embeddedFont>
    <p:embeddedFont>
      <p:font typeface="Poppins" panose="00000500000000000000" pitchFamily="2" charset="0"/>
      <p:regular r:id="rId21"/>
    </p:embeddedFont>
    <p:embeddedFont>
      <p:font typeface="Poppins Bold" panose="020B0604020202020204" charset="0"/>
      <p:regular r:id="rId22"/>
    </p:embeddedFont>
    <p:embeddedFont>
      <p:font typeface="Poppins Bold Italics" panose="020B0604020202020204" charset="0"/>
      <p:regular r:id="rId23"/>
    </p:embeddedFont>
    <p:embeddedFont>
      <p:font typeface="Source Sans 3" panose="020B0604020202020204" charset="0"/>
      <p:regular r:id="rId24"/>
    </p:embeddedFont>
    <p:embeddedFont>
      <p:font typeface="Source Sans 3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5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ikakalamkar8@outlook.com" userId="82c6b5176a93b7f4" providerId="LiveId" clId="{3501ED5C-D92B-4655-8585-F098A9FDA8B8}"/>
    <pc:docChg chg="modSld">
      <pc:chgData name="nishikakalamkar8@outlook.com" userId="82c6b5176a93b7f4" providerId="LiveId" clId="{3501ED5C-D92B-4655-8585-F098A9FDA8B8}" dt="2026-10-19T16:01:15.740" v="1" actId="1038"/>
      <pc:docMkLst>
        <pc:docMk/>
      </pc:docMkLst>
      <pc:sldChg chg="modSp mod">
        <pc:chgData name="nishikakalamkar8@outlook.com" userId="82c6b5176a93b7f4" providerId="LiveId" clId="{3501ED5C-D92B-4655-8585-F098A9FDA8B8}" dt="2026-10-19T16:01:15.740" v="1" actId="1038"/>
        <pc:sldMkLst>
          <pc:docMk/>
          <pc:sldMk cId="0" sldId="256"/>
        </pc:sldMkLst>
        <pc:spChg chg="mod">
          <ac:chgData name="nishikakalamkar8@outlook.com" userId="82c6b5176a93b7f4" providerId="LiveId" clId="{3501ED5C-D92B-4655-8585-F098A9FDA8B8}" dt="2026-10-19T16:01:15.740" v="1" actId="1038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336547" cy="10413997"/>
            <a:chOff x="0" y="0"/>
            <a:chExt cx="33655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209550" cy="10286746"/>
            </a:xfrm>
            <a:custGeom>
              <a:avLst/>
              <a:gdLst/>
              <a:ahLst/>
              <a:cxnLst/>
              <a:rect l="l" t="t" r="r" b="b"/>
              <a:pathLst>
                <a:path w="209550" h="10286746">
                  <a:moveTo>
                    <a:pt x="0" y="0"/>
                  </a:moveTo>
                  <a:lnTo>
                    <a:pt x="209550" y="0"/>
                  </a:lnTo>
                  <a:lnTo>
                    <a:pt x="209550" y="10286746"/>
                  </a:lnTo>
                  <a:lnTo>
                    <a:pt x="0" y="10286746"/>
                  </a:lnTo>
                  <a:close/>
                </a:path>
              </a:pathLst>
            </a:custGeom>
            <a:solidFill>
              <a:srgbClr val="0AA6A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09550" cy="10287000"/>
            </a:xfrm>
            <a:custGeom>
              <a:avLst/>
              <a:gdLst/>
              <a:ahLst/>
              <a:cxnLst/>
              <a:rect l="l" t="t" r="r" b="b"/>
              <a:pathLst>
                <a:path w="209550" h="10287000">
                  <a:moveTo>
                    <a:pt x="0" y="10287000"/>
                  </a:moveTo>
                  <a:lnTo>
                    <a:pt x="209550" y="10287000"/>
                  </a:lnTo>
                  <a:lnTo>
                    <a:pt x="209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9009011" y="1028700"/>
            <a:ext cx="9278989" cy="5071684"/>
          </a:xfrm>
          <a:custGeom>
            <a:avLst/>
            <a:gdLst/>
            <a:ahLst/>
            <a:cxnLst/>
            <a:rect l="l" t="t" r="r" b="b"/>
            <a:pathLst>
              <a:path w="9278989" h="5071684">
                <a:moveTo>
                  <a:pt x="0" y="0"/>
                </a:moveTo>
                <a:lnTo>
                  <a:pt x="9278989" y="0"/>
                </a:lnTo>
                <a:lnTo>
                  <a:pt x="9278989" y="5071684"/>
                </a:lnTo>
                <a:lnTo>
                  <a:pt x="0" y="5071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469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873696" y="2353238"/>
            <a:ext cx="6198680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4"/>
              </a:lnSpc>
            </a:pPr>
            <a:r>
              <a:rPr lang="en-US" sz="69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Dijkstra’s Shortest Path</a:t>
            </a:r>
          </a:p>
          <a:p>
            <a:pPr algn="l">
              <a:lnSpc>
                <a:spcPts val="7424"/>
              </a:lnSpc>
            </a:pPr>
            <a:r>
              <a:rPr lang="en-US" sz="69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0338" y="4261485"/>
            <a:ext cx="58293" cy="3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1877" y="5771913"/>
            <a:ext cx="11997323" cy="59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Understanding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greedy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approach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to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finding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shortest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2032" y="6362412"/>
            <a:ext cx="4533991" cy="60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path</a:t>
            </a:r>
            <a:r>
              <a:rPr lang="en-US" sz="3368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in</a:t>
            </a:r>
            <a:r>
              <a:rPr lang="en-US" sz="3368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a</a:t>
            </a:r>
            <a:r>
              <a:rPr lang="en-US" sz="3368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weighted</a:t>
            </a:r>
            <a:r>
              <a:rPr lang="en-US" sz="3368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graph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2482" y="6954600"/>
            <a:ext cx="11776424" cy="333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endParaRPr/>
          </a:p>
          <a:p>
            <a:pPr algn="l">
              <a:lnSpc>
                <a:spcPts val="1678"/>
              </a:lnSpc>
            </a:pPr>
            <a:endParaRPr/>
          </a:p>
          <a:p>
            <a:pPr algn="l">
              <a:lnSpc>
                <a:spcPts val="1678"/>
              </a:lnSpc>
            </a:pPr>
            <a:endParaRPr/>
          </a:p>
          <a:p>
            <a:pPr algn="l">
              <a:lnSpc>
                <a:spcPts val="4337"/>
              </a:lnSpc>
            </a:pPr>
            <a:r>
              <a:rPr lang="en-US" sz="3357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Name : Nishika Sumer Kalamkar</a:t>
            </a:r>
          </a:p>
          <a:p>
            <a:pPr algn="l">
              <a:lnSpc>
                <a:spcPts val="4337"/>
              </a:lnSpc>
            </a:pPr>
            <a:r>
              <a:rPr lang="en-US" sz="3357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PRN : 25070521266</a:t>
            </a:r>
          </a:p>
          <a:p>
            <a:pPr algn="l">
              <a:lnSpc>
                <a:spcPts val="4337"/>
              </a:lnSpc>
            </a:pPr>
            <a:r>
              <a:rPr lang="en-US" sz="3357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Symbiosis Institute Of Technology</a:t>
            </a:r>
          </a:p>
          <a:p>
            <a:pPr algn="l">
              <a:lnSpc>
                <a:spcPts val="4337"/>
              </a:lnSpc>
            </a:pPr>
            <a:r>
              <a:rPr lang="en-US" sz="3357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Section : E</a:t>
            </a:r>
          </a:p>
          <a:p>
            <a:pPr algn="l">
              <a:lnSpc>
                <a:spcPts val="4337"/>
              </a:lnSpc>
            </a:pPr>
            <a:endParaRPr lang="en-US" sz="3357" b="1">
              <a:solidFill>
                <a:srgbClr val="102A43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5996" y="548669"/>
            <a:ext cx="11981259" cy="843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  <a:spcBef>
                <a:spcPct val="0"/>
              </a:spcBef>
            </a:pPr>
            <a:r>
              <a:rPr lang="en-US" sz="4677" b="1" i="1">
                <a:solidFill>
                  <a:srgbClr val="02B5B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DESIGN AND ANALYSIS OF ALGORITHMS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AAE716-CBBE-C48A-75DE-9712C8B4C17F}"/>
              </a:ext>
            </a:extLst>
          </p:cNvPr>
          <p:cNvSpPr txBox="1"/>
          <p:nvPr/>
        </p:nvSpPr>
        <p:spPr>
          <a:xfrm>
            <a:off x="16383000" y="9660558"/>
            <a:ext cx="215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0897" y="1479547"/>
            <a:ext cx="13652497" cy="155572"/>
            <a:chOff x="0" y="0"/>
            <a:chExt cx="13652500" cy="15557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3525500" cy="28575"/>
            </a:xfrm>
            <a:custGeom>
              <a:avLst/>
              <a:gdLst/>
              <a:ahLst/>
              <a:cxnLst/>
              <a:rect l="l" t="t" r="r" b="b"/>
              <a:pathLst>
                <a:path w="13525500" h="28575">
                  <a:moveTo>
                    <a:pt x="0" y="0"/>
                  </a:moveTo>
                  <a:lnTo>
                    <a:pt x="13525500" y="0"/>
                  </a:lnTo>
                  <a:lnTo>
                    <a:pt x="135255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EF4F7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3525500" cy="28575"/>
            </a:xfrm>
            <a:custGeom>
              <a:avLst/>
              <a:gdLst/>
              <a:ahLst/>
              <a:cxnLst/>
              <a:rect l="l" t="t" r="r" b="b"/>
              <a:pathLst>
                <a:path w="13525500" h="28575">
                  <a:moveTo>
                    <a:pt x="0" y="28575"/>
                  </a:moveTo>
                  <a:lnTo>
                    <a:pt x="13525500" y="28575"/>
                  </a:lnTo>
                  <a:lnTo>
                    <a:pt x="1352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0699747" y="7604122"/>
            <a:ext cx="5461149" cy="869947"/>
          </a:xfrm>
          <a:custGeom>
            <a:avLst/>
            <a:gdLst/>
            <a:ahLst/>
            <a:cxnLst/>
            <a:rect l="l" t="t" r="r" b="b"/>
            <a:pathLst>
              <a:path w="5461149" h="869947">
                <a:moveTo>
                  <a:pt x="0" y="0"/>
                </a:moveTo>
                <a:lnTo>
                  <a:pt x="5461149" y="0"/>
                </a:lnTo>
                <a:lnTo>
                  <a:pt x="5461149" y="869947"/>
                </a:lnTo>
                <a:lnTo>
                  <a:pt x="0" y="8699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9823447" y="2965447"/>
            <a:ext cx="6261097" cy="3975097"/>
          </a:xfrm>
          <a:custGeom>
            <a:avLst/>
            <a:gdLst/>
            <a:ahLst/>
            <a:cxnLst/>
            <a:rect l="l" t="t" r="r" b="b"/>
            <a:pathLst>
              <a:path w="6261097" h="3975097">
                <a:moveTo>
                  <a:pt x="0" y="0"/>
                </a:moveTo>
                <a:lnTo>
                  <a:pt x="6261097" y="0"/>
                </a:lnTo>
                <a:lnTo>
                  <a:pt x="6261097" y="3975097"/>
                </a:lnTo>
                <a:lnTo>
                  <a:pt x="0" y="3975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14400" y="669931"/>
            <a:ext cx="11159014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to the Shortest Path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9000" y="2091792"/>
            <a:ext cx="9700455" cy="13654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1  A graph consists of vertices (nodes) and edges (connections).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2  Edge weights represent cost, time, or distance.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3  The shortest path minimizes the total edge weight between two vertices.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4  Example: the minimum-distance route between two places.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algorithm selects the unvisited node with the smallest known distance and uses it to explore possible shorter paths.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5  It repeatedly updates the shortest known distances until the shortest paths to the required destinations are determined.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25250" y="3123667"/>
            <a:ext cx="15156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5037" y="6484677"/>
            <a:ext cx="23969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9750" y="4933417"/>
            <a:ext cx="14106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10750" y="1933042"/>
            <a:ext cx="366895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Two possible routes from S to 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73250" y="2742667"/>
            <a:ext cx="15785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10800" y="4127240"/>
            <a:ext cx="155353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67367" y="3269990"/>
            <a:ext cx="18616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67545" y="6317990"/>
            <a:ext cx="166468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47781" y="4317740"/>
            <a:ext cx="149285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87648" y="7833598"/>
            <a:ext cx="3146736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SHORTER ROUTE · TOTAL =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49BE4D-03D3-955B-CAEC-614D5A96F539}"/>
              </a:ext>
            </a:extLst>
          </p:cNvPr>
          <p:cNvSpPr txBox="1"/>
          <p:nvPr/>
        </p:nvSpPr>
        <p:spPr>
          <a:xfrm>
            <a:off x="16160896" y="9563100"/>
            <a:ext cx="1809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6977" y="8655363"/>
            <a:ext cx="7557621" cy="984247"/>
          </a:xfrm>
          <a:custGeom>
            <a:avLst/>
            <a:gdLst/>
            <a:ahLst/>
            <a:cxnLst/>
            <a:rect l="l" t="t" r="r" b="b"/>
            <a:pathLst>
              <a:path w="7557621" h="984247">
                <a:moveTo>
                  <a:pt x="0" y="0"/>
                </a:moveTo>
                <a:lnTo>
                  <a:pt x="7557621" y="0"/>
                </a:lnTo>
                <a:lnTo>
                  <a:pt x="7557621" y="984247"/>
                </a:lnTo>
                <a:lnTo>
                  <a:pt x="0" y="984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747153" y="2525454"/>
            <a:ext cx="6375397" cy="5270497"/>
          </a:xfrm>
          <a:custGeom>
            <a:avLst/>
            <a:gdLst/>
            <a:ahLst/>
            <a:cxnLst/>
            <a:rect l="l" t="t" r="r" b="b"/>
            <a:pathLst>
              <a:path w="6375397" h="5270497">
                <a:moveTo>
                  <a:pt x="0" y="0"/>
                </a:moveTo>
                <a:lnTo>
                  <a:pt x="6375397" y="0"/>
                </a:lnTo>
                <a:lnTo>
                  <a:pt x="6375397" y="5270497"/>
                </a:lnTo>
                <a:lnTo>
                  <a:pt x="0" y="5270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914400" y="669931"/>
            <a:ext cx="7830198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Dijkstra’s Algorithm?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0595" y="1597152"/>
            <a:ext cx="69952" cy="48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6212" y="3836891"/>
            <a:ext cx="10900267" cy="373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3"/>
              </a:lnSpc>
            </a:pPr>
            <a:r>
              <a:rPr lang="en-US" sz="3213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1 Select the unvisited vertex with the smallest tentative distance.</a:t>
            </a:r>
          </a:p>
          <a:p>
            <a:pPr algn="l">
              <a:lnSpc>
                <a:spcPts val="4283"/>
              </a:lnSpc>
              <a:spcBef>
                <a:spcPts val="4283"/>
              </a:spcBef>
            </a:pPr>
            <a:r>
              <a:rPr lang="en-US" sz="3213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2 Relax its outgoing edges: replace a neighbor’s distance when a shorter route is found.</a:t>
            </a:r>
          </a:p>
          <a:p>
            <a:pPr algn="l">
              <a:lnSpc>
                <a:spcPts val="4283"/>
              </a:lnSpc>
              <a:spcBef>
                <a:spcPts val="4283"/>
              </a:spcBef>
            </a:pPr>
            <a:r>
              <a:rPr lang="en-US" sz="3213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3 Mark the vertex visited and continue.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80366" y="8966511"/>
            <a:ext cx="593242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Correctness requires non-negative edge weights.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1800" y="4793990"/>
            <a:ext cx="155353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59235" y="7079990"/>
            <a:ext cx="164192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8913" y="2698490"/>
            <a:ext cx="144237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82023" y="4639208"/>
            <a:ext cx="152829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16888" y="6508490"/>
            <a:ext cx="163687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18373" y="3174740"/>
            <a:ext cx="16090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2B700F-1E32-71C6-3626-D50DF8BCEDCF}"/>
              </a:ext>
            </a:extLst>
          </p:cNvPr>
          <p:cNvSpPr txBox="1"/>
          <p:nvPr/>
        </p:nvSpPr>
        <p:spPr>
          <a:xfrm>
            <a:off x="16187988" y="9618927"/>
            <a:ext cx="919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C7FBF-BFC6-D4BC-98D3-BD727F9145E3}"/>
              </a:ext>
            </a:extLst>
          </p:cNvPr>
          <p:cNvSpPr txBox="1"/>
          <p:nvPr/>
        </p:nvSpPr>
        <p:spPr>
          <a:xfrm>
            <a:off x="666073" y="2230389"/>
            <a:ext cx="127166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/>
              <a:t>Dijkstra’s algorithm works by repeatedly choosing the closest unvisited node, updating distances to its </a:t>
            </a:r>
            <a:r>
              <a:rPr lang="en-IN" sz="2800" i="1" dirty="0" err="1"/>
              <a:t>neighbors</a:t>
            </a:r>
            <a:r>
              <a:rPr lang="en-IN" sz="2800" i="1" dirty="0"/>
              <a:t>, and marking it as visited</a:t>
            </a:r>
            <a:endParaRPr lang="en-US" sz="2800" i="1" dirty="0">
              <a:solidFill>
                <a:srgbClr val="102A43"/>
              </a:solidFill>
              <a:latin typeface="Leelawadee" panose="020B0502040204020203" pitchFamily="34" charset="-34"/>
              <a:ea typeface="Source Sans 3"/>
              <a:cs typeface="Leelawadee" panose="020B0502040204020203" pitchFamily="34" charset="-34"/>
              <a:sym typeface="Source Sans 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5CEEF-0E17-D3CB-D599-3AB2A93187CB}"/>
              </a:ext>
            </a:extLst>
          </p:cNvPr>
          <p:cNvSpPr txBox="1"/>
          <p:nvPr/>
        </p:nvSpPr>
        <p:spPr>
          <a:xfrm>
            <a:off x="16002000" y="9563100"/>
            <a:ext cx="190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8935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3FA1C5-001F-52B1-3E67-26680AFAD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4423" y="9522448"/>
            <a:ext cx="1902117" cy="5364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"/>
            <a:ext cx="1746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 Bold"/>
              </a:rPr>
              <a:t>Understanding the Weighted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38912"/>
            <a:ext cx="16459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0AA6A6"/>
                </a:solidFill>
                <a:latin typeface="Source Sans 3"/>
              </a:rPr>
              <a:t>Example graph used to find the shortest path from A to 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969264"/>
            <a:ext cx="12390120" cy="8247888"/>
          </a:xfrm>
          <a:prstGeom prst="rect">
            <a:avLst/>
          </a:prstGeom>
          <a:solidFill>
            <a:srgbClr val="D8EDF8"/>
          </a:solidFill>
          <a:ln w="7620">
            <a:solidFill>
              <a:srgbClr val="0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819888" y="969264"/>
            <a:ext cx="5230368" cy="8247888"/>
          </a:xfrm>
          <a:prstGeom prst="rect">
            <a:avLst/>
          </a:prstGeom>
          <a:solidFill>
            <a:srgbClr val="E4EFF8"/>
          </a:solidFill>
          <a:ln w="635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3017520" y="3383280"/>
            <a:ext cx="3840480" cy="54864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06790" y="3728362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5078" y="3746650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3931920"/>
            <a:ext cx="2011680" cy="292608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62856" y="5365056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1144" y="5383344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029200" y="3383280"/>
            <a:ext cx="1828800" cy="347472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989391" y="5066776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07679" y="5085064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3383280"/>
            <a:ext cx="2468880" cy="210312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73678" y="4451229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1966" y="4469517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029200" y="5486400"/>
            <a:ext cx="4297680" cy="137160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085731" y="6234097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04019" y="6252385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5486400"/>
            <a:ext cx="1828800" cy="228600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891041" y="6613325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09329" y="6631613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0" y="3383280"/>
            <a:ext cx="4297680" cy="438912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672377" y="5579579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90665" y="5597867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2670048" y="3584448"/>
            <a:ext cx="694944" cy="694944"/>
          </a:xfrm>
          <a:prstGeom prst="ellipse">
            <a:avLst/>
          </a:prstGeom>
          <a:solidFill>
            <a:srgbClr val="0AA6A6"/>
          </a:solidFill>
          <a:ln w="31750">
            <a:solidFill>
              <a:srgbClr val="0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70048" y="3621024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 Bold"/>
              </a:rPr>
              <a:t>A</a:t>
            </a:r>
          </a:p>
        </p:txBody>
      </p:sp>
      <p:sp>
        <p:nvSpPr>
          <p:cNvPr id="33" name="Oval 32"/>
          <p:cNvSpPr/>
          <p:nvPr/>
        </p:nvSpPr>
        <p:spPr>
          <a:xfrm>
            <a:off x="4681728" y="6510528"/>
            <a:ext cx="694944" cy="694944"/>
          </a:xfrm>
          <a:prstGeom prst="ellipse">
            <a:avLst/>
          </a:prstGeom>
          <a:solidFill>
            <a:srgbClr val="F0F4F8"/>
          </a:solidFill>
          <a:ln w="254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81728" y="6547104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Poppins Bold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3035808"/>
            <a:ext cx="694944" cy="694944"/>
          </a:xfrm>
          <a:prstGeom prst="ellipse">
            <a:avLst/>
          </a:prstGeom>
          <a:solidFill>
            <a:srgbClr val="F0F4F8"/>
          </a:solidFill>
          <a:ln w="254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0528" y="3072384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Poppins Bold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8979407" y="5138928"/>
            <a:ext cx="694944" cy="694944"/>
          </a:xfrm>
          <a:prstGeom prst="ellipse">
            <a:avLst/>
          </a:prstGeom>
          <a:solidFill>
            <a:srgbClr val="F0F4F8"/>
          </a:solidFill>
          <a:ln w="254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79407" y="5175504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Poppins Bold"/>
              </a:rPr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10808207" y="7424927"/>
            <a:ext cx="694944" cy="694944"/>
          </a:xfrm>
          <a:prstGeom prst="ellipse">
            <a:avLst/>
          </a:prstGeom>
          <a:solidFill>
            <a:srgbClr val="FFF0C8"/>
          </a:solidFill>
          <a:ln w="3175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08207" y="7461503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Poppins Bold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31596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A6A6"/>
                </a:solidFill>
                <a:latin typeface="Source Sans 3"/>
              </a:rPr>
              <a:t>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19" y="815644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2C94C"/>
                </a:solidFill>
                <a:latin typeface="Source Sans 3"/>
              </a:rPr>
              <a:t>DESTINATION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66192" y="107899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Poppins Bold"/>
              </a:rPr>
              <a:t>About This Graph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66192" y="1536192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Source Sans 3"/>
              </a:rPr>
              <a:t>Each edge is a direct connection between two vertices. The number on each edge is its weight (cost, distance, or time).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966192" y="2999232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AA6A6"/>
                </a:solidFill>
                <a:latin typeface="Poppins Bold"/>
              </a:rPr>
              <a:t>Goal: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66192" y="340156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Source Sans 3"/>
              </a:rPr>
              <a:t>Find the minimum-cost path from source A to destination 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66192" y="4315968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Poppins Bold"/>
              </a:rPr>
              <a:t>Edge Summary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966192" y="4700016"/>
            <a:ext cx="4937760" cy="283464"/>
          </a:xfrm>
          <a:prstGeom prst="rect">
            <a:avLst/>
          </a:prstGeom>
          <a:solidFill>
            <a:srgbClr val="D8ED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075919" y="473659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A - B  = 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966192" y="5001768"/>
            <a:ext cx="4937760" cy="283464"/>
          </a:xfrm>
          <a:prstGeom prst="rect">
            <a:avLst/>
          </a:prstGeom>
          <a:solidFill>
            <a:srgbClr val="F0F4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075919" y="5038344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A - C  = 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966192" y="5303520"/>
            <a:ext cx="4937760" cy="283464"/>
          </a:xfrm>
          <a:prstGeom prst="rect">
            <a:avLst/>
          </a:prstGeom>
          <a:solidFill>
            <a:srgbClr val="D8ED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075919" y="5340096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C - B  = 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66192" y="5605272"/>
            <a:ext cx="4937760" cy="283464"/>
          </a:xfrm>
          <a:prstGeom prst="rect">
            <a:avLst/>
          </a:prstGeom>
          <a:solidFill>
            <a:srgbClr val="F0F4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075919" y="5641848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B - D  = 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966192" y="5907024"/>
            <a:ext cx="4937760" cy="283464"/>
          </a:xfrm>
          <a:prstGeom prst="rect">
            <a:avLst/>
          </a:prstGeom>
          <a:solidFill>
            <a:srgbClr val="D8ED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075919" y="5943600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C - D  =  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966192" y="6208776"/>
            <a:ext cx="4937760" cy="283464"/>
          </a:xfrm>
          <a:prstGeom prst="rect">
            <a:avLst/>
          </a:prstGeom>
          <a:solidFill>
            <a:srgbClr val="F0F4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3075919" y="624535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D - E  =  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966192" y="6510527"/>
            <a:ext cx="4937760" cy="283464"/>
          </a:xfrm>
          <a:prstGeom prst="rect">
            <a:avLst/>
          </a:prstGeom>
          <a:solidFill>
            <a:srgbClr val="D8ED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075919" y="6547103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B - E  =  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66192" y="68580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Poppins Bold"/>
              </a:rPr>
              <a:t>Key</a:t>
            </a:r>
          </a:p>
        </p:txBody>
      </p:sp>
      <p:sp>
        <p:nvSpPr>
          <p:cNvPr id="63" name="Oval 62"/>
          <p:cNvSpPr/>
          <p:nvPr/>
        </p:nvSpPr>
        <p:spPr>
          <a:xfrm>
            <a:off x="13011912" y="7159752"/>
            <a:ext cx="201168" cy="201168"/>
          </a:xfrm>
          <a:prstGeom prst="ellipse">
            <a:avLst/>
          </a:prstGeom>
          <a:solidFill>
            <a:srgbClr val="0AA6A6"/>
          </a:solidFill>
          <a:ln w="19050">
            <a:solidFill>
              <a:srgbClr val="0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3295376" y="715975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Source Sans 3"/>
              </a:rPr>
              <a:t>  Source vertex (A)</a:t>
            </a:r>
          </a:p>
        </p:txBody>
      </p:sp>
      <p:sp>
        <p:nvSpPr>
          <p:cNvPr id="65" name="Oval 64"/>
          <p:cNvSpPr/>
          <p:nvPr/>
        </p:nvSpPr>
        <p:spPr>
          <a:xfrm>
            <a:off x="13011912" y="7434072"/>
            <a:ext cx="201168" cy="201168"/>
          </a:xfrm>
          <a:prstGeom prst="ellipse">
            <a:avLst/>
          </a:prstGeom>
          <a:solidFill>
            <a:srgbClr val="FFF0C8"/>
          </a:solidFill>
          <a:ln w="1905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3295376" y="74340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Source Sans 3"/>
              </a:rPr>
              <a:t>  Destination vertex (E)</a:t>
            </a:r>
          </a:p>
        </p:txBody>
      </p:sp>
      <p:sp>
        <p:nvSpPr>
          <p:cNvPr id="67" name="Oval 66"/>
          <p:cNvSpPr/>
          <p:nvPr/>
        </p:nvSpPr>
        <p:spPr>
          <a:xfrm>
            <a:off x="13011912" y="7708392"/>
            <a:ext cx="201168" cy="201168"/>
          </a:xfrm>
          <a:prstGeom prst="ellipse">
            <a:avLst/>
          </a:prstGeom>
          <a:solidFill>
            <a:srgbClr val="F0F4F8"/>
          </a:solidFill>
          <a:ln w="1905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3295376" y="770839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Source Sans 3"/>
              </a:rPr>
              <a:t>  Intermediate vertex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295376" y="798271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Source Sans 3"/>
              </a:rPr>
              <a:t>  Edge  /  Number = Weight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" y="8430768"/>
            <a:ext cx="12390120" cy="676656"/>
          </a:xfrm>
          <a:prstGeom prst="rect">
            <a:avLst/>
          </a:prstGeom>
          <a:solidFill>
            <a:srgbClr val="C8E3F5"/>
          </a:solidFill>
          <a:ln w="8890">
            <a:solidFill>
              <a:srgbClr val="0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0624" y="8494776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02A43"/>
                </a:solidFill>
                <a:latin typeface="Source Sans 3"/>
              </a:rPr>
              <a:t>Key idea:  Dijkstra's algorithm always selects the unvisited vertex with the smallest known distance and relaxes its neighbouring edges.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3A62ED-8896-6921-36D1-6203D9B81067}"/>
              </a:ext>
            </a:extLst>
          </p:cNvPr>
          <p:cNvSpPr txBox="1"/>
          <p:nvPr/>
        </p:nvSpPr>
        <p:spPr>
          <a:xfrm>
            <a:off x="16018290" y="9553254"/>
            <a:ext cx="2031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7747" y="8175622"/>
            <a:ext cx="6794497" cy="1079497"/>
          </a:xfrm>
          <a:custGeom>
            <a:avLst/>
            <a:gdLst/>
            <a:ahLst/>
            <a:cxnLst/>
            <a:rect l="l" t="t" r="r" b="b"/>
            <a:pathLst>
              <a:path w="6794497" h="1079497">
                <a:moveTo>
                  <a:pt x="0" y="0"/>
                </a:moveTo>
                <a:lnTo>
                  <a:pt x="6794497" y="0"/>
                </a:lnTo>
                <a:lnTo>
                  <a:pt x="6794497" y="1079497"/>
                </a:lnTo>
                <a:lnTo>
                  <a:pt x="0" y="1079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070097" y="3117847"/>
            <a:ext cx="9956797" cy="3575047"/>
          </a:xfrm>
          <a:custGeom>
            <a:avLst/>
            <a:gdLst/>
            <a:ahLst/>
            <a:cxnLst/>
            <a:rect l="l" t="t" r="r" b="b"/>
            <a:pathLst>
              <a:path w="9956797" h="3575047">
                <a:moveTo>
                  <a:pt x="0" y="0"/>
                </a:moveTo>
                <a:lnTo>
                  <a:pt x="9956797" y="0"/>
                </a:lnTo>
                <a:lnTo>
                  <a:pt x="9956797" y="3575047"/>
                </a:lnTo>
                <a:lnTo>
                  <a:pt x="0" y="3575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2437535" y="1831443"/>
            <a:ext cx="5222872" cy="6508747"/>
          </a:xfrm>
          <a:custGeom>
            <a:avLst/>
            <a:gdLst/>
            <a:ahLst/>
            <a:cxnLst/>
            <a:rect l="l" t="t" r="r" b="b"/>
            <a:pathLst>
              <a:path w="5222872" h="6508747">
                <a:moveTo>
                  <a:pt x="0" y="0"/>
                </a:moveTo>
                <a:lnTo>
                  <a:pt x="5222872" y="0"/>
                </a:lnTo>
                <a:lnTo>
                  <a:pt x="5222872" y="6508747"/>
                </a:lnTo>
                <a:lnTo>
                  <a:pt x="0" y="65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914400" y="669931"/>
            <a:ext cx="8401526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Step-by-Step Worked Example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0367" y="3460490"/>
            <a:ext cx="18616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68145" y="6032240"/>
            <a:ext cx="192481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09545" y="3460490"/>
            <a:ext cx="166468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58710" y="3746240"/>
            <a:ext cx="183642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58127" y="5746490"/>
            <a:ext cx="136655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76625" y="5123917"/>
            <a:ext cx="8766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10125" y="2980792"/>
            <a:ext cx="15785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57875" y="4885792"/>
            <a:ext cx="13314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6028792"/>
            <a:ext cx="15156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05750" y="3123667"/>
            <a:ext cx="8766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01250" y="4600042"/>
            <a:ext cx="14106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1750" y="2552167"/>
            <a:ext cx="12474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8750" y="7529341"/>
            <a:ext cx="3722246" cy="64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A </a:t>
            </a:r>
            <a:r>
              <a:rPr lang="en-US" sz="3150">
                <a:solidFill>
                  <a:srgbClr val="0AA6A6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 C </a:t>
            </a:r>
            <a:r>
              <a:rPr lang="en-US" sz="3150">
                <a:solidFill>
                  <a:srgbClr val="0AA6A6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 B </a:t>
            </a:r>
            <a:r>
              <a:rPr lang="en-US" sz="3150">
                <a:solidFill>
                  <a:srgbClr val="0AA6A6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 D </a:t>
            </a:r>
            <a:r>
              <a:rPr lang="en-US" sz="3150">
                <a:solidFill>
                  <a:srgbClr val="0AA6A6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 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29333" y="8470678"/>
            <a:ext cx="4050487" cy="3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TOTAL WEIGHT = 1 + 2 + 1 + 3 = 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63500" y="2292744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Initial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63500" y="3264294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57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63500" y="4235853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57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63500" y="5207403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57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63500" y="6178953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57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965063" y="3264294"/>
            <a:ext cx="367246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4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E∞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965063" y="4235853"/>
            <a:ext cx="367246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4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E∞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965063" y="6178953"/>
            <a:ext cx="367246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4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085021" y="2292744"/>
            <a:ext cx="367246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4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E∞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965063" y="5207403"/>
            <a:ext cx="489661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E10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63575" y="3264294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83751" y="326429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04079" y="326429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4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24407" y="326429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1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244735" y="326429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∞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63575" y="4235853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83751" y="42358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04079" y="42358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3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524407" y="42358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1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244735" y="42358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6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363575" y="5207403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083751" y="520740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804079" y="520740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3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524407" y="520740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1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244735" y="520740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4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363575" y="6178953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083751" y="61789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804079" y="61789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3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524407" y="61789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1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244735" y="61789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4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603634" y="2292744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203709" y="229274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924037" y="229274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∞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644365" y="229274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∞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6364693" y="229274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∞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763500" y="7139216"/>
            <a:ext cx="979322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AA6A6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8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800">
                <a:solidFill>
                  <a:srgbClr val="0AA6A6"/>
                </a:solidFill>
                <a:latin typeface="IBM Plex Mono"/>
                <a:ea typeface="IBM Plex Mono"/>
                <a:cs typeface="IBM Plex Mono"/>
                <a:sym typeface="IBM Plex Mono"/>
              </a:rPr>
              <a:t>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272470" y="7139216"/>
            <a:ext cx="1259129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AA6A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FINALIZED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B29FD6-5FA4-F073-642F-A6B9E48FD33A}"/>
              </a:ext>
            </a:extLst>
          </p:cNvPr>
          <p:cNvSpPr txBox="1"/>
          <p:nvPr/>
        </p:nvSpPr>
        <p:spPr>
          <a:xfrm>
            <a:off x="16364693" y="9546326"/>
            <a:ext cx="22959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9130" y="1731340"/>
            <a:ext cx="11759153" cy="7837211"/>
          </a:xfrm>
          <a:custGeom>
            <a:avLst/>
            <a:gdLst/>
            <a:ahLst/>
            <a:cxnLst/>
            <a:rect l="l" t="t" r="r" b="b"/>
            <a:pathLst>
              <a:path w="11759153" h="7837211">
                <a:moveTo>
                  <a:pt x="0" y="0"/>
                </a:moveTo>
                <a:lnTo>
                  <a:pt x="11759153" y="0"/>
                </a:lnTo>
                <a:lnTo>
                  <a:pt x="11759153" y="7837211"/>
                </a:lnTo>
                <a:lnTo>
                  <a:pt x="0" y="7837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i="1" dirty="0">
              <a:latin typeface="Agency FB" panose="020B0503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557122" y="2317747"/>
            <a:ext cx="4889497" cy="5175247"/>
          </a:xfrm>
          <a:custGeom>
            <a:avLst/>
            <a:gdLst/>
            <a:ahLst/>
            <a:cxnLst/>
            <a:rect l="l" t="t" r="r" b="b"/>
            <a:pathLst>
              <a:path w="4889497" h="5175247">
                <a:moveTo>
                  <a:pt x="0" y="0"/>
                </a:moveTo>
                <a:lnTo>
                  <a:pt x="4889497" y="0"/>
                </a:lnTo>
                <a:lnTo>
                  <a:pt x="4889497" y="5175247"/>
                </a:lnTo>
                <a:lnTo>
                  <a:pt x="0" y="5175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914400" y="669931"/>
            <a:ext cx="7340184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 and Pseudocode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8750" y="1897609"/>
            <a:ext cx="897474" cy="300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2C94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1800" dirty="0">
                <a:solidFill>
                  <a:srgbClr val="F2C94C"/>
                </a:solidFill>
                <a:latin typeface="Noto Sans"/>
                <a:ea typeface="Noto Sans"/>
                <a:cs typeface="Noto Sans"/>
                <a:sym typeface="Noto Sans"/>
              </a:rPr>
              <a:t>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4000" y="2596610"/>
            <a:ext cx="3619986" cy="36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DIJKSTRA(Graph, source)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4000" y="2949035"/>
            <a:ext cx="157391" cy="454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32667" y="2949035"/>
            <a:ext cx="6138243" cy="162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dist[v] ← ∞ for every vertex v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dist[source] ← 0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insert source into min-priority queue Q</a:t>
            </a:r>
          </a:p>
          <a:p>
            <a:pPr algn="l">
              <a:lnSpc>
                <a:spcPts val="2549"/>
              </a:lnSpc>
              <a:spcBef>
                <a:spcPts val="2549"/>
              </a:spcBef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while Q is not empty: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1344" y="4568285"/>
            <a:ext cx="3934768" cy="65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u ← extract-min(Q)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 each neighbor v of u: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49859" y="5215985"/>
            <a:ext cx="5351288" cy="162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candidate ← dist[u] + weight(u, v)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if candidate &lt; dist[v]: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dist[v] ← candidate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parent[v] ← u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update Q with dist[v]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32667" y="7130510"/>
            <a:ext cx="2990421" cy="36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return dist, parent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85084" y="3814048"/>
            <a:ext cx="4522099" cy="215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IMPLEMENTATION NOTE</a:t>
            </a:r>
          </a:p>
          <a:p>
            <a:pPr algn="ctr">
              <a:lnSpc>
                <a:spcPts val="2100"/>
              </a:lnSpc>
              <a:spcBef>
                <a:spcPts val="2100"/>
              </a:spcBef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 priority queue may contain outdated entries. Skip an extracted entry when its stored distance no longer matches dist[u].</a:t>
            </a:r>
          </a:p>
          <a:p>
            <a:pPr algn="ctr">
              <a:lnSpc>
                <a:spcPts val="2100"/>
              </a:lnSpc>
              <a:spcBef>
                <a:spcPts val="2100"/>
              </a:spcBef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IDEA</a:t>
            </a:r>
          </a:p>
          <a:p>
            <a:pPr algn="ctr">
              <a:lnSpc>
                <a:spcPts val="2100"/>
              </a:lnSpc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Relax only when candidate &lt; dist[v]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843B37-A287-84D3-A08A-1A775F1811F3}"/>
              </a:ext>
            </a:extLst>
          </p:cNvPr>
          <p:cNvSpPr txBox="1"/>
          <p:nvPr/>
        </p:nvSpPr>
        <p:spPr>
          <a:xfrm>
            <a:off x="528103" y="9687226"/>
            <a:ext cx="919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894213-BFDA-44B2-1AC9-B5C2ABFA1487}"/>
              </a:ext>
            </a:extLst>
          </p:cNvPr>
          <p:cNvSpPr txBox="1"/>
          <p:nvPr/>
        </p:nvSpPr>
        <p:spPr>
          <a:xfrm>
            <a:off x="16453132" y="9607325"/>
            <a:ext cx="2613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4247" y="2031997"/>
            <a:ext cx="7365997" cy="6318247"/>
          </a:xfrm>
          <a:custGeom>
            <a:avLst/>
            <a:gdLst/>
            <a:ahLst/>
            <a:cxnLst/>
            <a:rect l="l" t="t" r="r" b="b"/>
            <a:pathLst>
              <a:path w="7365997" h="6318247">
                <a:moveTo>
                  <a:pt x="0" y="0"/>
                </a:moveTo>
                <a:lnTo>
                  <a:pt x="7365997" y="0"/>
                </a:lnTo>
                <a:lnTo>
                  <a:pt x="7365997" y="6318247"/>
                </a:lnTo>
                <a:lnTo>
                  <a:pt x="0" y="6318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937747" y="2031997"/>
            <a:ext cx="7365997" cy="6476457"/>
          </a:xfrm>
          <a:custGeom>
            <a:avLst/>
            <a:gdLst/>
            <a:ahLst/>
            <a:cxnLst/>
            <a:rect l="l" t="t" r="r" b="b"/>
            <a:pathLst>
              <a:path w="7365997" h="6476457">
                <a:moveTo>
                  <a:pt x="0" y="0"/>
                </a:moveTo>
                <a:lnTo>
                  <a:pt x="7365997" y="0"/>
                </a:lnTo>
                <a:lnTo>
                  <a:pt x="7365997" y="6476457"/>
                </a:lnTo>
                <a:lnTo>
                  <a:pt x="0" y="6476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914400" y="669931"/>
            <a:ext cx="7550563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Time and Space Complexity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26379" y="2703576"/>
            <a:ext cx="3570637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Adjacency matrix + linear search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83295" y="2703576"/>
            <a:ext cx="376767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Adjacency list</a:t>
            </a:r>
          </a:p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+ binary min-heap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3166" y="4413180"/>
            <a:ext cx="3617890" cy="17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7"/>
              </a:lnSpc>
            </a:pPr>
            <a:r>
              <a:rPr lang="en-US" sz="64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O(V²)</a:t>
            </a:r>
          </a:p>
          <a:p>
            <a:pPr algn="ctr">
              <a:lnSpc>
                <a:spcPts val="2699"/>
              </a:lnSpc>
            </a:pP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Simple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selection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of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minimum distance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vertex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by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scanning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V.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2832" y="5541264"/>
            <a:ext cx="52464" cy="36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02488" y="5560314"/>
            <a:ext cx="3728590" cy="68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Commonly simplified to O(E log V) for connected sparse graphs.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35878" y="4389787"/>
            <a:ext cx="5292414" cy="97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O((V + E) log V)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43555" y="7394315"/>
            <a:ext cx="18616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78833" y="7965815"/>
            <a:ext cx="192481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91482" y="7156190"/>
            <a:ext cx="166468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7189" y="8571681"/>
            <a:ext cx="2565511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SPACE O(V + 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8510" y="8571681"/>
            <a:ext cx="4398445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·V = vertices · E = edges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42C90D-7B68-7F18-4D74-A572C59DBA8C}"/>
              </a:ext>
            </a:extLst>
          </p:cNvPr>
          <p:cNvSpPr txBox="1"/>
          <p:nvPr/>
        </p:nvSpPr>
        <p:spPr>
          <a:xfrm>
            <a:off x="16245843" y="9540069"/>
            <a:ext cx="1814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460" y="3532767"/>
            <a:ext cx="18288000" cy="6966522"/>
          </a:xfrm>
          <a:custGeom>
            <a:avLst/>
            <a:gdLst/>
            <a:ahLst/>
            <a:cxnLst/>
            <a:rect l="l" t="t" r="r" b="b"/>
            <a:pathLst>
              <a:path w="18288000" h="6966522">
                <a:moveTo>
                  <a:pt x="0" y="0"/>
                </a:moveTo>
                <a:lnTo>
                  <a:pt x="18288000" y="0"/>
                </a:lnTo>
                <a:lnTo>
                  <a:pt x="18288000" y="6966521"/>
                </a:lnTo>
                <a:lnTo>
                  <a:pt x="0" y="6966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IN" dirty="0"/>
              <a:t>ka</a:t>
            </a:r>
            <a:endParaRPr dirty="0"/>
          </a:p>
        </p:txBody>
      </p:sp>
      <p:sp>
        <p:nvSpPr>
          <p:cNvPr id="3" name="TextBox 3"/>
          <p:cNvSpPr txBox="1"/>
          <p:nvPr/>
        </p:nvSpPr>
        <p:spPr>
          <a:xfrm>
            <a:off x="914400" y="669931"/>
            <a:ext cx="10205218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 dirty="0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Advantages, Limitations &amp; Conditions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1912" y="7375265"/>
            <a:ext cx="158639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51775" y="8387699"/>
            <a:ext cx="99022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37446" y="7375265"/>
            <a:ext cx="295799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≥0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6967" y="3561290"/>
            <a:ext cx="2221516" cy="4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8455" y="3561290"/>
            <a:ext cx="2036521" cy="4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45570" y="3561290"/>
            <a:ext cx="4013730" cy="4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IMPORTANT CONDITIONS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2227" y="3561290"/>
            <a:ext cx="4185949" cy="9425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endParaRPr dirty="0"/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Efficient for non-negative weighted graphs.</a:t>
            </a:r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Finds the shortest paths from a source node to every reachable vertex.</a:t>
            </a:r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Widely used in navigation and networking applications.</a:t>
            </a:r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Simple to understand and implement.</a:t>
            </a:r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Works well for large graphs with sparse connections </a:t>
            </a:r>
          </a:p>
          <a:p>
            <a:pPr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399459" y="4131795"/>
            <a:ext cx="4971185" cy="47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Does not work correctly with negative-weight edges.</a:t>
            </a:r>
          </a:p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May not be the best choice for every type of graph.</a:t>
            </a:r>
          </a:p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Bellman-Ford is a better option for graphs with negative edge weights.</a:t>
            </a:r>
          </a:p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Can require more time and memory in some cases.</a:t>
            </a:r>
          </a:p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Performance may decrease for very dense graphs.</a:t>
            </a:r>
          </a:p>
          <a:p>
            <a:pPr algn="l">
              <a:lnSpc>
                <a:spcPts val="3480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328512" y="4168725"/>
            <a:ext cx="5708028" cy="4688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Every edge weight must be non-negative.</a:t>
            </a:r>
          </a:p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Unreachable vertices remain at infinity (∞) distance.</a:t>
            </a:r>
          </a:p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Implementation choice affects execution speed and memory usage.</a:t>
            </a:r>
          </a:p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The graph's structure and edge weights should remain unchanged during execution.</a:t>
            </a:r>
          </a:p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The algorithm assumes there are no negative-weight cycles.</a:t>
            </a:r>
          </a:p>
          <a:p>
            <a:pPr algn="l">
              <a:lnSpc>
                <a:spcPts val="4343"/>
              </a:lnSpc>
            </a:pPr>
            <a:endParaRPr lang="en-US" sz="2528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B644A4-27F8-5835-88C2-265E49CB3EAB}"/>
              </a:ext>
            </a:extLst>
          </p:cNvPr>
          <p:cNvSpPr txBox="1"/>
          <p:nvPr/>
        </p:nvSpPr>
        <p:spPr>
          <a:xfrm>
            <a:off x="16132175" y="9521708"/>
            <a:ext cx="2168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48D1E6-4984-F557-1AC9-FF5398652E37}"/>
              </a:ext>
            </a:extLst>
          </p:cNvPr>
          <p:cNvSpPr txBox="1"/>
          <p:nvPr/>
        </p:nvSpPr>
        <p:spPr>
          <a:xfrm>
            <a:off x="737995" y="9013877"/>
            <a:ext cx="8495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C3B1BD-6345-9E88-36C9-1880AC2A46E4}"/>
              </a:ext>
            </a:extLst>
          </p:cNvPr>
          <p:cNvSpPr txBox="1"/>
          <p:nvPr/>
        </p:nvSpPr>
        <p:spPr>
          <a:xfrm>
            <a:off x="6560925" y="8799156"/>
            <a:ext cx="648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-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CF2EAF-6EC1-7D24-7098-E0BB81399C63}"/>
              </a:ext>
            </a:extLst>
          </p:cNvPr>
          <p:cNvSpPr txBox="1"/>
          <p:nvPr/>
        </p:nvSpPr>
        <p:spPr>
          <a:xfrm>
            <a:off x="12634795" y="9039348"/>
            <a:ext cx="596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20083" y="3090605"/>
            <a:ext cx="5689597" cy="3689347"/>
          </a:xfrm>
          <a:custGeom>
            <a:avLst/>
            <a:gdLst/>
            <a:ahLst/>
            <a:cxnLst/>
            <a:rect l="l" t="t" r="r" b="b"/>
            <a:pathLst>
              <a:path w="5689597" h="3689347">
                <a:moveTo>
                  <a:pt x="0" y="0"/>
                </a:moveTo>
                <a:lnTo>
                  <a:pt x="5689597" y="0"/>
                </a:lnTo>
                <a:lnTo>
                  <a:pt x="5689597" y="3689347"/>
                </a:lnTo>
                <a:lnTo>
                  <a:pt x="0" y="3689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14400" y="669931"/>
            <a:ext cx="7926200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Key Takeaways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5255" y="1963270"/>
            <a:ext cx="10279556" cy="70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96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1. Dijkstra’s algorithm is an important graph algorithm that helps find the shortest path from a starting node to other nodes in a weighted graph.</a:t>
            </a:r>
          </a:p>
          <a:p>
            <a:pPr algn="l">
              <a:lnSpc>
                <a:spcPts val="4187"/>
              </a:lnSpc>
            </a:pPr>
            <a:r>
              <a:rPr lang="en-US" sz="296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2. It follows a greedy approach by selecting the unvisited node with the smallest known distance and exploring possible shorter routes through it.</a:t>
            </a:r>
          </a:p>
          <a:p>
            <a:pPr algn="l">
              <a:lnSpc>
                <a:spcPts val="4187"/>
              </a:lnSpc>
            </a:pPr>
            <a:r>
              <a:rPr lang="en-US" sz="296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3. The algorithm continuously updates distances and compares different paths until the shortest routes to the required destinations are determined.</a:t>
            </a:r>
          </a:p>
          <a:p>
            <a:pPr algn="l">
              <a:lnSpc>
                <a:spcPts val="4187"/>
              </a:lnSpc>
            </a:pPr>
            <a:r>
              <a:rPr lang="en-US" sz="296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4. It is widely used in real-world applications such as GPS navigation, Google Maps, road route planning, and computer network routing.</a:t>
            </a:r>
          </a:p>
          <a:p>
            <a:pPr algn="l">
              <a:lnSpc>
                <a:spcPts val="4187"/>
              </a:lnSpc>
            </a:pPr>
            <a:endParaRPr lang="en-US" sz="3162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624367" y="3650990"/>
            <a:ext cx="18616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21645" y="5270240"/>
            <a:ext cx="192481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34545" y="3650990"/>
            <a:ext cx="166468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11127" y="6413240"/>
            <a:ext cx="136655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34016-D576-9AB2-0C49-0020B7C860DC}"/>
              </a:ext>
            </a:extLst>
          </p:cNvPr>
          <p:cNvSpPr txBox="1"/>
          <p:nvPr/>
        </p:nvSpPr>
        <p:spPr>
          <a:xfrm>
            <a:off x="16243027" y="9504797"/>
            <a:ext cx="2070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336547" cy="10413997"/>
            <a:chOff x="0" y="0"/>
            <a:chExt cx="33655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209550" cy="10286746"/>
            </a:xfrm>
            <a:custGeom>
              <a:avLst/>
              <a:gdLst/>
              <a:ahLst/>
              <a:cxnLst/>
              <a:rect l="l" t="t" r="r" b="b"/>
              <a:pathLst>
                <a:path w="209550" h="10286746">
                  <a:moveTo>
                    <a:pt x="0" y="0"/>
                  </a:moveTo>
                  <a:lnTo>
                    <a:pt x="209550" y="0"/>
                  </a:lnTo>
                  <a:lnTo>
                    <a:pt x="209550" y="10286746"/>
                  </a:lnTo>
                  <a:lnTo>
                    <a:pt x="0" y="10286746"/>
                  </a:lnTo>
                  <a:close/>
                </a:path>
              </a:pathLst>
            </a:custGeom>
            <a:solidFill>
              <a:srgbClr val="0AA6A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09550" cy="10287000"/>
            </a:xfrm>
            <a:custGeom>
              <a:avLst/>
              <a:gdLst/>
              <a:ahLst/>
              <a:cxnLst/>
              <a:rect l="l" t="t" r="r" b="b"/>
              <a:pathLst>
                <a:path w="209550" h="10287000">
                  <a:moveTo>
                    <a:pt x="0" y="10287000"/>
                  </a:moveTo>
                  <a:lnTo>
                    <a:pt x="209550" y="10287000"/>
                  </a:lnTo>
                  <a:lnTo>
                    <a:pt x="209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4370803" y="2998088"/>
            <a:ext cx="10720788" cy="2329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81"/>
              </a:lnSpc>
            </a:pPr>
            <a:r>
              <a:rPr lang="en-US" sz="1291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482A2A-5FC8-816A-8F9B-EBD194915D4B}"/>
              </a:ext>
            </a:extLst>
          </p:cNvPr>
          <p:cNvSpPr txBox="1"/>
          <p:nvPr/>
        </p:nvSpPr>
        <p:spPr>
          <a:xfrm>
            <a:off x="16213853" y="9486900"/>
            <a:ext cx="1797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1014</Words>
  <Application>Microsoft Office PowerPoint</Application>
  <PresentationFormat>Custom</PresentationFormat>
  <Paragraphs>245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Leelawadee</vt:lpstr>
      <vt:lpstr>Agency FB</vt:lpstr>
      <vt:lpstr>Noto Sans</vt:lpstr>
      <vt:lpstr>Noto Sans Bold</vt:lpstr>
      <vt:lpstr>Poppins</vt:lpstr>
      <vt:lpstr>Calibri</vt:lpstr>
      <vt:lpstr>Source Sans 3 Bold</vt:lpstr>
      <vt:lpstr>IBM Plex Mono</vt:lpstr>
      <vt:lpstr>Poppins Bold Italics</vt:lpstr>
      <vt:lpstr>Arial</vt:lpstr>
      <vt:lpstr>Source Sans 3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Shortest Path.pdf</dc:title>
  <dc:creator>HP</dc:creator>
  <cp:lastModifiedBy>nishikakalamkar8@outlook.com</cp:lastModifiedBy>
  <cp:revision>2</cp:revision>
  <dcterms:created xsi:type="dcterms:W3CDTF">2006-08-16T00:00:00Z</dcterms:created>
  <dcterms:modified xsi:type="dcterms:W3CDTF">2026-10-19T16:01:22Z</dcterms:modified>
  <dc:identifier>DAHXmta57FA</dc:identifier>
</cp:coreProperties>
</file>